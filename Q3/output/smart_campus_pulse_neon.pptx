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731520"/>
            <a:ext cx="4114800" cy="4114800"/>
          </a:xfrm>
          <a:prstGeom prst="ellipse">
            <a:avLst/>
          </a:prstGeom>
          <a:solidFill>
            <a:srgbClr val="7852F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3840480"/>
            <a:ext cx="4754880" cy="3017520"/>
          </a:xfrm>
          <a:prstGeom prst="ellipse">
            <a:avLst/>
          </a:prstGeom>
          <a:solidFill>
            <a:srgbClr val="13C4D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FAFAFA"/>
                </a:solidFill>
                <a:latin typeface="Montserrat"/>
              </a:defRPr>
            </a:pPr>
            <a:r>
              <a:t>AIOT Smart Campus Initiative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7CDFF"/>
                </a:solidFill>
                <a:latin typeface="Inter"/>
              </a:defRPr>
            </a:pPr>
            <a:r>
              <a:t>From reactive maintenance to predictive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822960"/>
            <a:ext cx="2743200" cy="548640"/>
          </a:xfrm>
          <a:prstGeom prst="roundRect">
            <a:avLst/>
          </a:prstGeom>
          <a:solidFill>
            <a:srgbClr val="7852F8"/>
          </a:solidFill>
          <a:ln>
            <a:solidFill>
              <a:srgbClr val="785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Internal 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731520"/>
            <a:ext cx="4114800" cy="4114800"/>
          </a:xfrm>
          <a:prstGeom prst="ellipse">
            <a:avLst/>
          </a:prstGeom>
          <a:solidFill>
            <a:srgbClr val="7852F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3840480"/>
            <a:ext cx="4754880" cy="3017520"/>
          </a:xfrm>
          <a:prstGeom prst="ellipse">
            <a:avLst/>
          </a:prstGeom>
          <a:solidFill>
            <a:srgbClr val="13C4D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FAFAFA"/>
                </a:solidFill>
                <a:latin typeface="Montserrat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7CDFF"/>
                </a:solidFill>
                <a:latin typeface="Inter"/>
              </a:defRPr>
            </a:pPr>
            <a:r>
              <a:t>The pilot deck recaps the journey from discovery to activation.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7CDFF"/>
                </a:solidFill>
                <a:latin typeface="Inter"/>
              </a:defRPr>
            </a:pPr>
            <a:r>
              <a:t>Vision and guiding principles</a:t>
            </a:r>
          </a:p>
          <a:p>
            <a:pPr>
              <a:defRPr sz="2400">
                <a:solidFill>
                  <a:srgbClr val="C7CDFF"/>
                </a:solidFill>
                <a:latin typeface="Inter"/>
              </a:defRPr>
            </a:pPr>
            <a:r>
              <a:t>Service blueprint &amp; architecture</a:t>
            </a:r>
          </a:p>
          <a:p>
            <a:pPr>
              <a:defRPr sz="2400">
                <a:solidFill>
                  <a:srgbClr val="C7CDFF"/>
                </a:solidFill>
                <a:latin typeface="Inter"/>
              </a:defRPr>
            </a:pPr>
            <a:r>
              <a:t>Pilot learnings and KPIs</a:t>
            </a:r>
          </a:p>
          <a:p>
            <a:pPr>
              <a:defRPr sz="2400">
                <a:solidFill>
                  <a:srgbClr val="C7CDFF"/>
                </a:solidFill>
                <a:latin typeface="Inter"/>
              </a:defRPr>
            </a:pPr>
            <a:r>
              <a:t>Next steps toward expansion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731520"/>
            <a:ext cx="4114800" cy="4114800"/>
          </a:xfrm>
          <a:prstGeom prst="ellipse">
            <a:avLst/>
          </a:prstGeom>
          <a:solidFill>
            <a:srgbClr val="7852F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3840480"/>
            <a:ext cx="4754880" cy="3017520"/>
          </a:xfrm>
          <a:prstGeom prst="ellipse">
            <a:avLst/>
          </a:prstGeom>
          <a:solidFill>
            <a:srgbClr val="13C4D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FAFAFA"/>
                </a:solidFill>
                <a:latin typeface="Montserrat"/>
              </a:defRPr>
            </a:pPr>
            <a:r>
              <a:t>Why now?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029200" cy="3474720"/>
          </a:xfrm>
          <a:prstGeom prst="roundRect">
            <a:avLst/>
          </a:prstGeom>
          <a:solidFill>
            <a:srgbClr val="13C4DF"/>
          </a:solidFill>
          <a:ln>
            <a:solidFill>
              <a:srgbClr val="13C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Operational pains</a:t>
            </a:r>
          </a:p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• Reactive maintenance windows</a:t>
            </a:r>
          </a:p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• Siloed building data</a:t>
            </a:r>
          </a:p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• Manual triage creates 48h lag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103120"/>
            <a:ext cx="5029200" cy="3474720"/>
          </a:xfrm>
          <a:prstGeom prst="roundRect">
            <a:avLst/>
          </a:prstGeom>
          <a:solidFill>
            <a:srgbClr val="7852F8"/>
          </a:solidFill>
          <a:ln>
            <a:solidFill>
              <a:srgbClr val="785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Opportunity</a:t>
            </a:r>
          </a:p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• Sensor density + LTE coverage</a:t>
            </a:r>
          </a:p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• Campus AI governance ready</a:t>
            </a:r>
          </a:p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• Leadership mandate for 20% savings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731520"/>
            <a:ext cx="4114800" cy="4114800"/>
          </a:xfrm>
          <a:prstGeom prst="ellipse">
            <a:avLst/>
          </a:prstGeom>
          <a:solidFill>
            <a:srgbClr val="7852F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3840480"/>
            <a:ext cx="4754880" cy="3017520"/>
          </a:xfrm>
          <a:prstGeom prst="ellipse">
            <a:avLst/>
          </a:prstGeom>
          <a:solidFill>
            <a:srgbClr val="13C4D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FAFAFA"/>
                </a:solidFill>
                <a:latin typeface="Montserrat"/>
              </a:defRPr>
            </a:pPr>
            <a:r>
              <a:t>Service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7CDFF"/>
                </a:solidFill>
                <a:latin typeface="Inter"/>
              </a:defRPr>
            </a:pPr>
            <a:r>
              <a:t>AI orchestrates sense → decide → act loops across facilities.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77440" cy="2194560"/>
          </a:xfrm>
          <a:prstGeom prst="roundRect">
            <a:avLst/>
          </a:prstGeom>
          <a:solidFill>
            <a:srgbClr val="7852F8"/>
          </a:solidFill>
          <a:ln>
            <a:solidFill>
              <a:srgbClr val="785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Edge sensing</a:t>
            </a:r>
          </a:p>
          <a:p>
            <a:pPr>
              <a:defRPr sz="1600">
                <a:solidFill>
                  <a:srgbClr val="EBEBEB"/>
                </a:solidFill>
                <a:latin typeface="Inter"/>
              </a:defRPr>
            </a:pPr>
            <a:r>
              <a:t>LoRaWAN and BLE pucks capture HVAC, occupancy, power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743200"/>
            <a:ext cx="2377440" cy="2194560"/>
          </a:xfrm>
          <a:prstGeom prst="roundRect">
            <a:avLst/>
          </a:prstGeom>
          <a:solidFill>
            <a:srgbClr val="13C4DF"/>
          </a:solidFill>
          <a:ln>
            <a:solidFill>
              <a:srgbClr val="13C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Event fabric</a:t>
            </a:r>
          </a:p>
          <a:p>
            <a:pPr>
              <a:defRPr sz="1600">
                <a:solidFill>
                  <a:srgbClr val="EBEBEB"/>
                </a:solidFill>
                <a:latin typeface="Inter"/>
              </a:defRPr>
            </a:pPr>
            <a:r>
              <a:t>MQTT + Azure Event Grid normalize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2743200"/>
            <a:ext cx="2377440" cy="2194560"/>
          </a:xfrm>
          <a:prstGeom prst="roundRect">
            <a:avLst/>
          </a:prstGeom>
          <a:solidFill>
            <a:srgbClr val="7852F8"/>
          </a:solidFill>
          <a:ln>
            <a:solidFill>
              <a:srgbClr val="785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Copilot brain</a:t>
            </a:r>
          </a:p>
          <a:p>
            <a:pPr>
              <a:defRPr sz="1600">
                <a:solidFill>
                  <a:srgbClr val="EBEBEB"/>
                </a:solidFill>
                <a:latin typeface="Inter"/>
              </a:defRPr>
            </a:pPr>
            <a:r>
              <a:t>GPT-4o mini agents prioritize work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743200"/>
            <a:ext cx="2377440" cy="2194560"/>
          </a:xfrm>
          <a:prstGeom prst="roundRect">
            <a:avLst/>
          </a:prstGeom>
          <a:solidFill>
            <a:srgbClr val="13C4DF"/>
          </a:solidFill>
          <a:ln>
            <a:solidFill>
              <a:srgbClr val="13C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Service cloud</a:t>
            </a:r>
          </a:p>
          <a:p>
            <a:pPr>
              <a:defRPr sz="1600">
                <a:solidFill>
                  <a:srgbClr val="EBEBEB"/>
                </a:solidFill>
                <a:latin typeface="Inter"/>
              </a:defRPr>
            </a:pPr>
            <a:r>
              <a:t>n8n + ServiceNow automate dispatch +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731520"/>
            <a:ext cx="4114800" cy="4114800"/>
          </a:xfrm>
          <a:prstGeom prst="ellipse">
            <a:avLst/>
          </a:prstGeom>
          <a:solidFill>
            <a:srgbClr val="7852F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3840480"/>
            <a:ext cx="4754880" cy="3017520"/>
          </a:xfrm>
          <a:prstGeom prst="ellipse">
            <a:avLst/>
          </a:prstGeom>
          <a:solidFill>
            <a:srgbClr val="13C4D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FAFAFA"/>
                </a:solidFill>
                <a:latin typeface="Montserrat"/>
              </a:defRPr>
            </a:pPr>
            <a:r>
              <a:t>Pilot lift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200400" cy="2011680"/>
          </a:xfrm>
          <a:prstGeom prst="roundRect">
            <a:avLst/>
          </a:prstGeom>
          <a:solidFill>
            <a:srgbClr val="13C4DF"/>
          </a:solidFill>
          <a:ln>
            <a:solidFill>
              <a:srgbClr val="5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AFAFA"/>
                </a:solidFill>
                <a:latin typeface="Montserrat"/>
              </a:defRPr>
            </a:pPr>
            <a:r>
              <a:t>-32%</a:t>
            </a:r>
          </a:p>
          <a:p>
            <a:pPr>
              <a:defRPr sz="1800" b="1">
                <a:solidFill>
                  <a:srgbClr val="C7CDFF"/>
                </a:solidFill>
                <a:latin typeface="Inter"/>
              </a:defRPr>
            </a:pPr>
            <a:r>
              <a:t>MTTR drop</a:t>
            </a:r>
          </a:p>
          <a:p>
            <a:pPr>
              <a:defRPr sz="1400">
                <a:solidFill>
                  <a:srgbClr val="C7CDFF"/>
                </a:solidFill>
                <a:latin typeface="Inter"/>
              </a:defRPr>
            </a:pPr>
            <a:r>
              <a:t>pre- vs post-pilot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2194560"/>
            <a:ext cx="3200400" cy="2011680"/>
          </a:xfrm>
          <a:prstGeom prst="roundRect">
            <a:avLst/>
          </a:prstGeom>
          <a:solidFill>
            <a:srgbClr val="13C4DF"/>
          </a:solidFill>
          <a:ln>
            <a:solidFill>
              <a:srgbClr val="5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AFAFA"/>
                </a:solidFill>
                <a:latin typeface="Montserrat"/>
              </a:defRPr>
            </a:pPr>
            <a:r>
              <a:t>18%</a:t>
            </a:r>
          </a:p>
          <a:p>
            <a:pPr>
              <a:defRPr sz="1800" b="1">
                <a:solidFill>
                  <a:srgbClr val="C7CDFF"/>
                </a:solidFill>
                <a:latin typeface="Inter"/>
              </a:defRPr>
            </a:pPr>
            <a:r>
              <a:t>Energy savings</a:t>
            </a:r>
          </a:p>
          <a:p>
            <a:pPr>
              <a:defRPr sz="1400">
                <a:solidFill>
                  <a:srgbClr val="C7CDFF"/>
                </a:solidFill>
                <a:latin typeface="Inter"/>
              </a:defRPr>
            </a:pPr>
            <a:r>
              <a:t>3 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194560"/>
            <a:ext cx="3200400" cy="2011680"/>
          </a:xfrm>
          <a:prstGeom prst="roundRect">
            <a:avLst/>
          </a:prstGeom>
          <a:solidFill>
            <a:srgbClr val="13C4DF"/>
          </a:solidFill>
          <a:ln>
            <a:solidFill>
              <a:srgbClr val="5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AFAFA"/>
                </a:solidFill>
                <a:latin typeface="Montserrat"/>
              </a:defRPr>
            </a:pPr>
            <a:r>
              <a:t>41%</a:t>
            </a:r>
          </a:p>
          <a:p>
            <a:pPr>
              <a:defRPr sz="1800" b="1">
                <a:solidFill>
                  <a:srgbClr val="C7CDFF"/>
                </a:solidFill>
                <a:latin typeface="Inter"/>
              </a:defRPr>
            </a:pPr>
            <a:r>
              <a:t>Ticket auto-resolve</a:t>
            </a:r>
          </a:p>
          <a:p>
            <a:pPr>
              <a:defRPr sz="1400">
                <a:solidFill>
                  <a:srgbClr val="C7CDFF"/>
                </a:solidFill>
                <a:latin typeface="Inter"/>
              </a:defRPr>
            </a:pPr>
            <a:r>
              <a:t>AI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C7CDFF"/>
                </a:solidFill>
                <a:latin typeface="Inter"/>
              </a:defRPr>
            </a:pPr>
            <a:r>
              <a:t>"We can finally predict chiller failures 2 days out." — Facilities Lead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731520"/>
            <a:ext cx="4114800" cy="4114800"/>
          </a:xfrm>
          <a:prstGeom prst="ellipse">
            <a:avLst/>
          </a:prstGeom>
          <a:solidFill>
            <a:srgbClr val="7852F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3840480"/>
            <a:ext cx="4754880" cy="3017520"/>
          </a:xfrm>
          <a:prstGeom prst="ellipse">
            <a:avLst/>
          </a:prstGeom>
          <a:solidFill>
            <a:srgbClr val="13C4D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FAFAFA"/>
                </a:solidFill>
                <a:latin typeface="Montserrat"/>
              </a:defRPr>
            </a:pPr>
            <a:r>
              <a:t>Next 90-day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108960"/>
            <a:ext cx="9692640" cy="91440"/>
          </a:xfrm>
          <a:prstGeom prst="rect">
            <a:avLst/>
          </a:prstGeom>
          <a:solidFill>
            <a:srgbClr val="C7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834640"/>
            <a:ext cx="548640" cy="548640"/>
          </a:xfrm>
          <a:prstGeom prst="ellipse">
            <a:avLst/>
          </a:prstGeom>
          <a:solidFill>
            <a:srgbClr val="7852F8"/>
          </a:solidFill>
          <a:ln>
            <a:solidFill>
              <a:srgbClr val="785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AFAFA"/>
                </a:solidFill>
                <a:latin typeface="Inter"/>
              </a:defRPr>
            </a:pPr>
            <a:r>
              <a:t>Sprint 1</a:t>
            </a:r>
          </a:p>
          <a:p>
            <a:pPr>
              <a:defRPr sz="1500">
                <a:solidFill>
                  <a:srgbClr val="C7CDFF"/>
                </a:solidFill>
                <a:latin typeface="Inter"/>
              </a:defRPr>
            </a:pPr>
            <a:r>
              <a:t>Retrofit sensors for library + labs</a:t>
            </a:r>
          </a:p>
        </p:txBody>
      </p:sp>
      <p:sp>
        <p:nvSpPr>
          <p:cNvPr id="8" name="Oval 7"/>
          <p:cNvSpPr/>
          <p:nvPr/>
        </p:nvSpPr>
        <p:spPr>
          <a:xfrm>
            <a:off x="4023360" y="2834640"/>
            <a:ext cx="548640" cy="548640"/>
          </a:xfrm>
          <a:prstGeom prst="ellipse">
            <a:avLst/>
          </a:prstGeom>
          <a:solidFill>
            <a:srgbClr val="7852F8"/>
          </a:solidFill>
          <a:ln>
            <a:solidFill>
              <a:srgbClr val="785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474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AFAFA"/>
                </a:solidFill>
                <a:latin typeface="Inter"/>
              </a:defRPr>
            </a:pPr>
            <a:r>
              <a:t>Sprint 2</a:t>
            </a:r>
          </a:p>
          <a:p>
            <a:pPr>
              <a:defRPr sz="1500">
                <a:solidFill>
                  <a:srgbClr val="C7CDFF"/>
                </a:solidFill>
                <a:latin typeface="Inter"/>
              </a:defRPr>
            </a:pPr>
            <a:r>
              <a:t>Stitch sustainability dashboard</a:t>
            </a:r>
          </a:p>
        </p:txBody>
      </p:sp>
      <p:sp>
        <p:nvSpPr>
          <p:cNvPr id="10" name="Oval 9"/>
          <p:cNvSpPr/>
          <p:nvPr/>
        </p:nvSpPr>
        <p:spPr>
          <a:xfrm>
            <a:off x="7132320" y="2834640"/>
            <a:ext cx="548640" cy="548640"/>
          </a:xfrm>
          <a:prstGeom prst="ellipse">
            <a:avLst/>
          </a:prstGeom>
          <a:solidFill>
            <a:srgbClr val="7852F8"/>
          </a:solidFill>
          <a:ln>
            <a:solidFill>
              <a:srgbClr val="785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474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AFAFA"/>
                </a:solidFill>
                <a:latin typeface="Inter"/>
              </a:defRPr>
            </a:pPr>
            <a:r>
              <a:t>Sprint 3</a:t>
            </a:r>
          </a:p>
          <a:p>
            <a:pPr>
              <a:defRPr sz="1500">
                <a:solidFill>
                  <a:srgbClr val="C7CDFF"/>
                </a:solidFill>
                <a:latin typeface="Inter"/>
              </a:defRPr>
            </a:pPr>
            <a:r>
              <a:t>AI ops runbook &amp; rollout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731520"/>
            <a:ext cx="4114800" cy="4114800"/>
          </a:xfrm>
          <a:prstGeom prst="ellipse">
            <a:avLst/>
          </a:prstGeom>
          <a:solidFill>
            <a:srgbClr val="7852F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3840480"/>
            <a:ext cx="4754880" cy="3017520"/>
          </a:xfrm>
          <a:prstGeom prst="ellipse">
            <a:avLst/>
          </a:prstGeom>
          <a:solidFill>
            <a:srgbClr val="13C4D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FAFAFA"/>
                </a:solidFill>
                <a:latin typeface="Montserrat"/>
              </a:defRPr>
            </a:pPr>
            <a:r>
              <a:t>Call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9875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7CDFF"/>
                </a:solidFill>
                <a:latin typeface="Inter"/>
              </a:defRPr>
            </a:pPr>
            <a:r>
              <a:t>→ Approve budget for 25 new sensor clusters</a:t>
            </a:r>
          </a:p>
          <a:p>
            <a:pPr>
              <a:defRPr sz="2400" b="1">
                <a:solidFill>
                  <a:srgbClr val="C7CDFF"/>
                </a:solidFill>
                <a:latin typeface="Inter"/>
              </a:defRPr>
            </a:pPr>
            <a:r>
              <a:t>→ Nominate 1 champion per faculty</a:t>
            </a:r>
          </a:p>
          <a:p>
            <a:pPr>
              <a:defRPr sz="2400" b="1">
                <a:solidFill>
                  <a:srgbClr val="C7CDFF"/>
                </a:solidFill>
                <a:latin typeface="Inter"/>
              </a:defRPr>
            </a:pPr>
            <a:r>
              <a:t>→ Lock cross-function war room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062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7CDFF"/>
                </a:solidFill>
                <a:latin typeface="Inter"/>
              </a:defRPr>
            </a:pPr>
            <a:r>
              <a:t>Contact: aiot@campus.example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