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9202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23774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39"/>
            <a:ext cx="28346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8242A"/>
                </a:solidFill>
                <a:latin typeface="Source Sans Pro"/>
              </a:defRPr>
            </a:pPr>
            <a:r>
              <a:t>AIOT Smart Campus Initiative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25763"/>
                </a:solidFill>
                <a:latin typeface="Source Sans Pro"/>
              </a:defRPr>
            </a:pPr>
            <a:r>
              <a:t>From reactive maintenance to predictive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822960"/>
            <a:ext cx="2743200" cy="548640"/>
          </a:xfrm>
          <a:prstGeom prst="roundRect">
            <a:avLst/>
          </a:prstGeom>
          <a:solidFill>
            <a:srgbClr val="86996E"/>
          </a:solidFill>
          <a:ln>
            <a:solidFill>
              <a:srgbClr val="869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ource Sans Pro"/>
              </a:defRPr>
            </a:pPr>
            <a:r>
              <a:t>Internal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9202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23774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39"/>
            <a:ext cx="28346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8242A"/>
                </a:solidFill>
                <a:latin typeface="Source Sans Pro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25763"/>
                </a:solidFill>
                <a:latin typeface="Source Sans Pro"/>
              </a:defRPr>
            </a:pPr>
            <a:r>
              <a:t>The pilot deck recaps the journey from discovery to activation.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25763"/>
                </a:solidFill>
                <a:latin typeface="Source Sans Pro"/>
              </a:defRPr>
            </a:pPr>
            <a:r>
              <a:t>Vision and guiding principles</a:t>
            </a:r>
          </a:p>
          <a:p>
            <a:pPr>
              <a:defRPr sz="2400">
                <a:solidFill>
                  <a:srgbClr val="425763"/>
                </a:solidFill>
                <a:latin typeface="Source Sans Pro"/>
              </a:defRPr>
            </a:pPr>
            <a:r>
              <a:t>Service blueprint &amp; architecture</a:t>
            </a:r>
          </a:p>
          <a:p>
            <a:pPr>
              <a:defRPr sz="2400">
                <a:solidFill>
                  <a:srgbClr val="425763"/>
                </a:solidFill>
                <a:latin typeface="Source Sans Pro"/>
              </a:defRPr>
            </a:pPr>
            <a:r>
              <a:t>Pilot learnings and KPIs</a:t>
            </a:r>
          </a:p>
          <a:p>
            <a:pPr>
              <a:defRPr sz="2400">
                <a:solidFill>
                  <a:srgbClr val="425763"/>
                </a:solidFill>
                <a:latin typeface="Source Sans Pro"/>
              </a:defRPr>
            </a:pPr>
            <a:r>
              <a:t>Next steps toward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9202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23774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39"/>
            <a:ext cx="28346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8242A"/>
                </a:solidFill>
                <a:latin typeface="Source Sans Pro"/>
              </a:defRPr>
            </a:pPr>
            <a:r>
              <a:t>Why 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029200" cy="3474720"/>
          </a:xfrm>
          <a:prstGeom prst="roundRect">
            <a:avLst/>
          </a:prstGeom>
          <a:solidFill>
            <a:srgbClr val="C8D3A7"/>
          </a:solidFill>
          <a:ln>
            <a:solidFill>
              <a:srgbClr val="C8D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ource Sans Pro"/>
              </a:defRPr>
            </a:pPr>
            <a:r>
              <a:t>Operational pains</a:t>
            </a:r>
          </a:p>
          <a:p>
            <a:pPr>
              <a:defRPr sz="1800">
                <a:solidFill>
                  <a:srgbClr val="FFFFFF"/>
                </a:solidFill>
                <a:latin typeface="Source Sans Pro"/>
              </a:defRPr>
            </a:pPr>
            <a:r>
              <a:t>• Reactive maintenance windows</a:t>
            </a:r>
          </a:p>
          <a:p>
            <a:pPr>
              <a:defRPr sz="1800">
                <a:solidFill>
                  <a:srgbClr val="FFFFFF"/>
                </a:solidFill>
                <a:latin typeface="Source Sans Pro"/>
              </a:defRPr>
            </a:pPr>
            <a:r>
              <a:t>• Siloed building data</a:t>
            </a:r>
          </a:p>
          <a:p>
            <a:pPr>
              <a:defRPr sz="1800">
                <a:solidFill>
                  <a:srgbClr val="FFFFFF"/>
                </a:solidFill>
                <a:latin typeface="Source Sans Pro"/>
              </a:defRPr>
            </a:pPr>
            <a:r>
              <a:t>• Manual triage creates 48h 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03120"/>
            <a:ext cx="5029200" cy="3474720"/>
          </a:xfrm>
          <a:prstGeom prst="roundRect">
            <a:avLst/>
          </a:prstGeom>
          <a:solidFill>
            <a:srgbClr val="86996E"/>
          </a:solidFill>
          <a:ln>
            <a:solidFill>
              <a:srgbClr val="869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ource Sans Pro"/>
              </a:defRPr>
            </a:pPr>
            <a:r>
              <a:t>Opportunity</a:t>
            </a:r>
          </a:p>
          <a:p>
            <a:pPr>
              <a:defRPr sz="1800">
                <a:solidFill>
                  <a:srgbClr val="FFFFFF"/>
                </a:solidFill>
                <a:latin typeface="Source Sans Pro"/>
              </a:defRPr>
            </a:pPr>
            <a:r>
              <a:t>• Sensor density + LTE coverage</a:t>
            </a:r>
          </a:p>
          <a:p>
            <a:pPr>
              <a:defRPr sz="1800">
                <a:solidFill>
                  <a:srgbClr val="FFFFFF"/>
                </a:solidFill>
                <a:latin typeface="Source Sans Pro"/>
              </a:defRPr>
            </a:pPr>
            <a:r>
              <a:t>• Campus AI governance ready</a:t>
            </a:r>
          </a:p>
          <a:p>
            <a:pPr>
              <a:defRPr sz="1800">
                <a:solidFill>
                  <a:srgbClr val="FFFFFF"/>
                </a:solidFill>
                <a:latin typeface="Source Sans Pro"/>
              </a:defRPr>
            </a:pPr>
            <a:r>
              <a:t>• Leadership mandate for 20%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9202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23774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39"/>
            <a:ext cx="28346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8242A"/>
                </a:solidFill>
                <a:latin typeface="Source Sans Pro"/>
              </a:defRPr>
            </a:pPr>
            <a:r>
              <a:t>Service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25763"/>
                </a:solidFill>
                <a:latin typeface="Source Sans Pro"/>
              </a:defRPr>
            </a:pPr>
            <a:r>
              <a:t>AI orchestrates sense → decide → act loops across facilities.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377440" cy="2194560"/>
          </a:xfrm>
          <a:prstGeom prst="roundRect">
            <a:avLst/>
          </a:prstGeom>
          <a:solidFill>
            <a:srgbClr val="86996E"/>
          </a:solidFill>
          <a:ln>
            <a:solidFill>
              <a:srgbClr val="869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ource Sans Pro"/>
              </a:defRPr>
            </a:pPr>
            <a:r>
              <a:t>Edge sensing</a:t>
            </a:r>
          </a:p>
          <a:p>
            <a:pPr>
              <a:defRPr sz="1600">
                <a:solidFill>
                  <a:srgbClr val="EBEBEB"/>
                </a:solidFill>
                <a:latin typeface="Source Sans Pro"/>
              </a:defRPr>
            </a:pPr>
            <a:r>
              <a:t>LoRaWAN and BLE pucks capture HVAC, occupancy, 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743200"/>
            <a:ext cx="2377440" cy="2194560"/>
          </a:xfrm>
          <a:prstGeom prst="roundRect">
            <a:avLst/>
          </a:prstGeom>
          <a:solidFill>
            <a:srgbClr val="C8D3A7"/>
          </a:solidFill>
          <a:ln>
            <a:solidFill>
              <a:srgbClr val="C8D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ource Sans Pro"/>
              </a:defRPr>
            </a:pPr>
            <a:r>
              <a:t>Event fabric</a:t>
            </a:r>
          </a:p>
          <a:p>
            <a:pPr>
              <a:defRPr sz="1600">
                <a:solidFill>
                  <a:srgbClr val="EBEBEB"/>
                </a:solidFill>
                <a:latin typeface="Source Sans Pro"/>
              </a:defRPr>
            </a:pPr>
            <a:r>
              <a:t>MQTT + Azure Event Grid normalize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743200"/>
            <a:ext cx="2377440" cy="2194560"/>
          </a:xfrm>
          <a:prstGeom prst="roundRect">
            <a:avLst/>
          </a:prstGeom>
          <a:solidFill>
            <a:srgbClr val="86996E"/>
          </a:solidFill>
          <a:ln>
            <a:solidFill>
              <a:srgbClr val="869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ource Sans Pro"/>
              </a:defRPr>
            </a:pPr>
            <a:r>
              <a:t>Copilot brain</a:t>
            </a:r>
          </a:p>
          <a:p>
            <a:pPr>
              <a:defRPr sz="1600">
                <a:solidFill>
                  <a:srgbClr val="EBEBEB"/>
                </a:solidFill>
                <a:latin typeface="Source Sans Pro"/>
              </a:defRPr>
            </a:pPr>
            <a:r>
              <a:t>GPT-4o mini agents prioritize work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743200"/>
            <a:ext cx="2377440" cy="2194560"/>
          </a:xfrm>
          <a:prstGeom prst="roundRect">
            <a:avLst/>
          </a:prstGeom>
          <a:solidFill>
            <a:srgbClr val="C8D3A7"/>
          </a:solidFill>
          <a:ln>
            <a:solidFill>
              <a:srgbClr val="C8D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ource Sans Pro"/>
              </a:defRPr>
            </a:pPr>
            <a:r>
              <a:t>Service cloud</a:t>
            </a:r>
          </a:p>
          <a:p>
            <a:pPr>
              <a:defRPr sz="1600">
                <a:solidFill>
                  <a:srgbClr val="EBEBEB"/>
                </a:solidFill>
                <a:latin typeface="Source Sans Pro"/>
              </a:defRPr>
            </a:pPr>
            <a:r>
              <a:t>n8n + ServiceNow automate dispatch +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9202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23774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39"/>
            <a:ext cx="28346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8242A"/>
                </a:solidFill>
                <a:latin typeface="Source Sans Pro"/>
              </a:defRPr>
            </a:pPr>
            <a:r>
              <a:t>Pilot lift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200400" cy="2011680"/>
          </a:xfrm>
          <a:prstGeom prst="roundRect">
            <a:avLst/>
          </a:prstGeom>
          <a:solidFill>
            <a:srgbClr val="C8D3A7"/>
          </a:solidFill>
          <a:ln>
            <a:solidFill>
              <a:srgbClr val="D2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8242A"/>
                </a:solidFill>
                <a:latin typeface="Source Sans Pro"/>
              </a:defRPr>
            </a:pPr>
            <a:r>
              <a:t>-32%</a:t>
            </a:r>
          </a:p>
          <a:p>
            <a:pPr>
              <a:defRPr sz="1800" b="1">
                <a:solidFill>
                  <a:srgbClr val="425763"/>
                </a:solidFill>
                <a:latin typeface="Source Sans Pro"/>
              </a:defRPr>
            </a:pPr>
            <a:r>
              <a:t>MTTR drop</a:t>
            </a:r>
          </a:p>
          <a:p>
            <a:pPr>
              <a:defRPr sz="1400">
                <a:solidFill>
                  <a:srgbClr val="425763"/>
                </a:solidFill>
                <a:latin typeface="Source Sans Pro"/>
              </a:defRPr>
            </a:pPr>
            <a:r>
              <a:t>pre- vs post-pilot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94560"/>
            <a:ext cx="3200400" cy="2011680"/>
          </a:xfrm>
          <a:prstGeom prst="roundRect">
            <a:avLst/>
          </a:prstGeom>
          <a:solidFill>
            <a:srgbClr val="C8D3A7"/>
          </a:solidFill>
          <a:ln>
            <a:solidFill>
              <a:srgbClr val="D2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8242A"/>
                </a:solidFill>
                <a:latin typeface="Source Sans Pro"/>
              </a:defRPr>
            </a:pPr>
            <a:r>
              <a:t>18%</a:t>
            </a:r>
          </a:p>
          <a:p>
            <a:pPr>
              <a:defRPr sz="1800" b="1">
                <a:solidFill>
                  <a:srgbClr val="425763"/>
                </a:solidFill>
                <a:latin typeface="Source Sans Pro"/>
              </a:defRPr>
            </a:pPr>
            <a:r>
              <a:t>Energy savings</a:t>
            </a:r>
          </a:p>
          <a:p>
            <a:pPr>
              <a:defRPr sz="1400">
                <a:solidFill>
                  <a:srgbClr val="425763"/>
                </a:solidFill>
                <a:latin typeface="Source Sans Pro"/>
              </a:defRPr>
            </a:pPr>
            <a:r>
              <a:t>3 buildings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194560"/>
            <a:ext cx="3200400" cy="2011680"/>
          </a:xfrm>
          <a:prstGeom prst="roundRect">
            <a:avLst/>
          </a:prstGeom>
          <a:solidFill>
            <a:srgbClr val="C8D3A7"/>
          </a:solidFill>
          <a:ln>
            <a:solidFill>
              <a:srgbClr val="D2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8242A"/>
                </a:solidFill>
                <a:latin typeface="Source Sans Pro"/>
              </a:defRPr>
            </a:pPr>
            <a:r>
              <a:t>41%</a:t>
            </a:r>
          </a:p>
          <a:p>
            <a:pPr>
              <a:defRPr sz="1800" b="1">
                <a:solidFill>
                  <a:srgbClr val="425763"/>
                </a:solidFill>
                <a:latin typeface="Source Sans Pro"/>
              </a:defRPr>
            </a:pPr>
            <a:r>
              <a:t>Ticket auto-resolve</a:t>
            </a:r>
          </a:p>
          <a:p>
            <a:pPr>
              <a:defRPr sz="1400">
                <a:solidFill>
                  <a:srgbClr val="425763"/>
                </a:solidFill>
                <a:latin typeface="Source Sans Pro"/>
              </a:defRPr>
            </a:pPr>
            <a: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425763"/>
                </a:solidFill>
                <a:latin typeface="Source Sans Pro"/>
              </a:defRPr>
            </a:pPr>
            <a:r>
              <a:t>"We can finally predict chiller failures 2 days out." — Facilities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9202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23774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39"/>
            <a:ext cx="28346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8242A"/>
                </a:solidFill>
                <a:latin typeface="Source Sans Pro"/>
              </a:defRPr>
            </a:pPr>
            <a:r>
              <a:t>Next 90-day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9692640" cy="91440"/>
          </a:xfrm>
          <a:prstGeom prst="rect">
            <a:avLst/>
          </a:prstGeom>
          <a:solidFill>
            <a:srgbClr val="42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34640"/>
            <a:ext cx="548640" cy="548640"/>
          </a:xfrm>
          <a:prstGeom prst="ellipse">
            <a:avLst/>
          </a:prstGeom>
          <a:solidFill>
            <a:srgbClr val="86996E"/>
          </a:solidFill>
          <a:ln>
            <a:solidFill>
              <a:srgbClr val="869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242A"/>
                </a:solidFill>
                <a:latin typeface="Source Sans Pro"/>
              </a:defRPr>
            </a:pPr>
            <a:r>
              <a:t>Sprint 1</a:t>
            </a:r>
          </a:p>
          <a:p>
            <a:pPr>
              <a:defRPr sz="1500">
                <a:solidFill>
                  <a:srgbClr val="425763"/>
                </a:solidFill>
                <a:latin typeface="Source Sans Pro"/>
              </a:defRPr>
            </a:pPr>
            <a:r>
              <a:t>Retrofit sensors for library + labs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2834640"/>
            <a:ext cx="548640" cy="548640"/>
          </a:xfrm>
          <a:prstGeom prst="ellipse">
            <a:avLst/>
          </a:prstGeom>
          <a:solidFill>
            <a:srgbClr val="86996E"/>
          </a:solidFill>
          <a:ln>
            <a:solidFill>
              <a:srgbClr val="869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242A"/>
                </a:solidFill>
                <a:latin typeface="Source Sans Pro"/>
              </a:defRPr>
            </a:pPr>
            <a:r>
              <a:t>Sprint 2</a:t>
            </a:r>
          </a:p>
          <a:p>
            <a:pPr>
              <a:defRPr sz="1500">
                <a:solidFill>
                  <a:srgbClr val="425763"/>
                </a:solidFill>
                <a:latin typeface="Source Sans Pro"/>
              </a:defRPr>
            </a:pPr>
            <a:r>
              <a:t>Stitch sustainability dashboard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0" y="2834640"/>
            <a:ext cx="548640" cy="548640"/>
          </a:xfrm>
          <a:prstGeom prst="ellipse">
            <a:avLst/>
          </a:prstGeom>
          <a:solidFill>
            <a:srgbClr val="86996E"/>
          </a:solidFill>
          <a:ln>
            <a:solidFill>
              <a:srgbClr val="869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242A"/>
                </a:solidFill>
                <a:latin typeface="Source Sans Pro"/>
              </a:defRPr>
            </a:pPr>
            <a:r>
              <a:t>Sprint 3</a:t>
            </a:r>
          </a:p>
          <a:p>
            <a:pPr>
              <a:defRPr sz="1500">
                <a:solidFill>
                  <a:srgbClr val="425763"/>
                </a:solidFill>
                <a:latin typeface="Source Sans Pro"/>
              </a:defRPr>
            </a:pPr>
            <a:r>
              <a:t>AI ops runbook &amp; rollout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9202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23774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39"/>
            <a:ext cx="2834640" cy="109728"/>
          </a:xfrm>
          <a:prstGeom prst="rect">
            <a:avLst/>
          </a:prstGeom>
          <a:solidFill>
            <a:srgbClr val="86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8242A"/>
                </a:solidFill>
                <a:latin typeface="Source Sans Pro"/>
              </a:defRPr>
            </a:pPr>
            <a:r>
              <a:t>Call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9875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5763"/>
                </a:solidFill>
                <a:latin typeface="Source Sans Pro"/>
              </a:defRPr>
            </a:pPr>
            <a:r>
              <a:t>→ Approve budget for 25 new sensor clusters</a:t>
            </a:r>
          </a:p>
          <a:p>
            <a:pPr>
              <a:defRPr sz="2400" b="1">
                <a:solidFill>
                  <a:srgbClr val="425763"/>
                </a:solidFill>
                <a:latin typeface="Source Sans Pro"/>
              </a:defRPr>
            </a:pPr>
            <a:r>
              <a:t>→ Nominate 1 champion per faculty</a:t>
            </a:r>
          </a:p>
          <a:p>
            <a:pPr>
              <a:defRPr sz="2400" b="1">
                <a:solidFill>
                  <a:srgbClr val="425763"/>
                </a:solidFill>
                <a:latin typeface="Source Sans Pro"/>
              </a:defRPr>
            </a:pPr>
            <a:r>
              <a:t>→ Lock cross-function war room cadence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5763"/>
                </a:solidFill>
                <a:latin typeface="Source Sans Pro"/>
              </a:defRPr>
            </a:pPr>
            <a:r>
              <a:t>Contact: aiot@campus.example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