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41414"/>
                </a:solidFill>
                <a:latin typeface="Calibri"/>
              </a:defRPr>
            </a:pPr>
            <a:r>
              <a:t>AIOT Smart Campus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Calibri"/>
              </a:defRPr>
            </a:pPr>
            <a:r>
              <a:t>From reactive maintenance to predictive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822960"/>
            <a:ext cx="2743200" cy="548640"/>
          </a:xfrm>
          <a:prstGeom prst="roundRect">
            <a:avLst/>
          </a:prstGeom>
          <a:solidFill>
            <a:srgbClr val="1760A7"/>
          </a:solidFill>
          <a:ln>
            <a:solidFill>
              <a:srgbClr val="176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Internal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41414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Calibri"/>
              </a:defRPr>
            </a:pPr>
            <a:r>
              <a:t>The pilot deck recaps the journey from discovery to activation.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05050"/>
                </a:solidFill>
                <a:latin typeface="Calibri"/>
              </a:defRPr>
            </a:pPr>
            <a:r>
              <a:t>Vision and guiding principles</a:t>
            </a:r>
          </a:p>
          <a:p>
            <a:pPr>
              <a:defRPr sz="2400">
                <a:solidFill>
                  <a:srgbClr val="505050"/>
                </a:solidFill>
                <a:latin typeface="Calibri"/>
              </a:defRPr>
            </a:pPr>
            <a:r>
              <a:t>Service blueprint &amp; architecture</a:t>
            </a:r>
          </a:p>
          <a:p>
            <a:pPr>
              <a:defRPr sz="2400">
                <a:solidFill>
                  <a:srgbClr val="505050"/>
                </a:solidFill>
                <a:latin typeface="Calibri"/>
              </a:defRPr>
            </a:pPr>
            <a:r>
              <a:t>Pilot learnings and KPIs</a:t>
            </a:r>
          </a:p>
          <a:p>
            <a:pPr>
              <a:defRPr sz="2400">
                <a:solidFill>
                  <a:srgbClr val="505050"/>
                </a:solidFill>
                <a:latin typeface="Calibri"/>
              </a:defRPr>
            </a:pPr>
            <a:r>
              <a:t>Next steps toward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41414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5029200" cy="347472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Operational pains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Reactive maintenance windows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Siloed building data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Manual triage creates 48h lag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2103120"/>
            <a:ext cx="5029200" cy="3474720"/>
          </a:xfrm>
          <a:prstGeom prst="roundRect">
            <a:avLst/>
          </a:prstGeom>
          <a:solidFill>
            <a:srgbClr val="1760A7"/>
          </a:solidFill>
          <a:ln>
            <a:solidFill>
              <a:srgbClr val="176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Opportunity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Sensor density + LTE coverage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Campus AI governance ready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Leadership mandate for 20%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41414"/>
                </a:solidFill>
                <a:latin typeface="Calibri"/>
              </a:defRPr>
            </a:pPr>
            <a:r>
              <a:t>Service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Calibri"/>
              </a:defRPr>
            </a:pPr>
            <a:r>
              <a:t>AI orchestrates sense → decide → act loops across facilities.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377440" cy="2194560"/>
          </a:xfrm>
          <a:prstGeom prst="roundRect">
            <a:avLst/>
          </a:prstGeom>
          <a:solidFill>
            <a:srgbClr val="1760A7"/>
          </a:solidFill>
          <a:ln>
            <a:solidFill>
              <a:srgbClr val="176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Edge sensing</a:t>
            </a:r>
          </a:p>
          <a:p>
            <a:pPr>
              <a:defRPr sz="1600">
                <a:solidFill>
                  <a:srgbClr val="EBEBEB"/>
                </a:solidFill>
                <a:latin typeface="Calibri"/>
              </a:defRPr>
            </a:pPr>
            <a:r>
              <a:t>LoRaWAN and BLE pucks capture HVAC, occupancy, power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743200"/>
            <a:ext cx="2377440" cy="219456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Event fabric</a:t>
            </a:r>
          </a:p>
          <a:p>
            <a:pPr>
              <a:defRPr sz="1600">
                <a:solidFill>
                  <a:srgbClr val="EBEBEB"/>
                </a:solidFill>
                <a:latin typeface="Calibri"/>
              </a:defRPr>
            </a:pPr>
            <a:r>
              <a:t>MQTT + Azure Event Grid normalize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2743200"/>
            <a:ext cx="2377440" cy="2194560"/>
          </a:xfrm>
          <a:prstGeom prst="roundRect">
            <a:avLst/>
          </a:prstGeom>
          <a:solidFill>
            <a:srgbClr val="1760A7"/>
          </a:solidFill>
          <a:ln>
            <a:solidFill>
              <a:srgbClr val="176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Copilot brain</a:t>
            </a:r>
          </a:p>
          <a:p>
            <a:pPr>
              <a:defRPr sz="1600">
                <a:solidFill>
                  <a:srgbClr val="EBEBEB"/>
                </a:solidFill>
                <a:latin typeface="Calibri"/>
              </a:defRPr>
            </a:pPr>
            <a:r>
              <a:t>GPT-4o mini agents prioritize work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743200"/>
            <a:ext cx="2377440" cy="219456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Service cloud</a:t>
            </a:r>
          </a:p>
          <a:p>
            <a:pPr>
              <a:defRPr sz="1600">
                <a:solidFill>
                  <a:srgbClr val="EBEBEB"/>
                </a:solidFill>
                <a:latin typeface="Calibri"/>
              </a:defRPr>
            </a:pPr>
            <a:r>
              <a:t>n8n + ServiceNow automate dispatch +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41414"/>
                </a:solidFill>
                <a:latin typeface="Calibri"/>
              </a:defRPr>
            </a:pPr>
            <a:r>
              <a:t>Pilot lift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200400" cy="2011680"/>
          </a:xfrm>
          <a:prstGeom prst="roundRect">
            <a:avLst/>
          </a:prstGeom>
          <a:solidFill>
            <a:srgbClr val="E7F2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41414"/>
                </a:solidFill>
                <a:latin typeface="Calibri"/>
              </a:defRPr>
            </a:pPr>
            <a:r>
              <a:t>-32%</a:t>
            </a:r>
          </a:p>
          <a:p>
            <a:pPr>
              <a:defRPr sz="1800" b="1">
                <a:solidFill>
                  <a:srgbClr val="505050"/>
                </a:solidFill>
                <a:latin typeface="Calibri"/>
              </a:defRPr>
            </a:pPr>
            <a:r>
              <a:t>MTTR drop</a:t>
            </a:r>
          </a:p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pre- vs post-pilot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2194560"/>
            <a:ext cx="3200400" cy="2011680"/>
          </a:xfrm>
          <a:prstGeom prst="roundRect">
            <a:avLst/>
          </a:prstGeom>
          <a:solidFill>
            <a:srgbClr val="E7F2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41414"/>
                </a:solidFill>
                <a:latin typeface="Calibri"/>
              </a:defRPr>
            </a:pPr>
            <a:r>
              <a:t>18%</a:t>
            </a:r>
          </a:p>
          <a:p>
            <a:pPr>
              <a:defRPr sz="1800" b="1">
                <a:solidFill>
                  <a:srgbClr val="505050"/>
                </a:solidFill>
                <a:latin typeface="Calibri"/>
              </a:defRPr>
            </a:pPr>
            <a:r>
              <a:t>Energy savings</a:t>
            </a:r>
          </a:p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3 buildings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194560"/>
            <a:ext cx="3200400" cy="2011680"/>
          </a:xfrm>
          <a:prstGeom prst="roundRect">
            <a:avLst/>
          </a:prstGeom>
          <a:solidFill>
            <a:srgbClr val="E7F2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41414"/>
                </a:solidFill>
                <a:latin typeface="Calibri"/>
              </a:defRPr>
            </a:pPr>
            <a:r>
              <a:t>41%</a:t>
            </a:r>
          </a:p>
          <a:p>
            <a:pPr>
              <a:defRPr sz="1800" b="1">
                <a:solidFill>
                  <a:srgbClr val="505050"/>
                </a:solidFill>
                <a:latin typeface="Calibri"/>
              </a:defRPr>
            </a:pPr>
            <a:r>
              <a:t>Ticket auto-resolve</a:t>
            </a:r>
          </a:p>
          <a:p>
            <a:pPr>
              <a:defRPr sz="1400">
                <a:solidFill>
                  <a:srgbClr val="505050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05050"/>
                </a:solidFill>
                <a:latin typeface="Calibri"/>
              </a:defRPr>
            </a:pPr>
            <a:r>
              <a:t>"We can finally predict chiller failures 2 days out." — Facilities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41414"/>
                </a:solidFill>
                <a:latin typeface="Calibri"/>
              </a:defRPr>
            </a:pPr>
            <a:r>
              <a:t>Next 90-day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108960"/>
            <a:ext cx="9692640" cy="9144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834640"/>
            <a:ext cx="548640" cy="548640"/>
          </a:xfrm>
          <a:prstGeom prst="ellipse">
            <a:avLst/>
          </a:prstGeom>
          <a:solidFill>
            <a:srgbClr val="1760A7"/>
          </a:solidFill>
          <a:ln>
            <a:solidFill>
              <a:srgbClr val="176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41414"/>
                </a:solidFill>
                <a:latin typeface="Calibri"/>
              </a:defRPr>
            </a:pPr>
            <a:r>
              <a:t>Sprint 1</a:t>
            </a:r>
          </a:p>
          <a:p>
            <a:pPr>
              <a:defRPr sz="1500">
                <a:solidFill>
                  <a:srgbClr val="505050"/>
                </a:solidFill>
                <a:latin typeface="Calibri"/>
              </a:defRPr>
            </a:pPr>
            <a:r>
              <a:t>Retrofit sensors for library + labs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2834640"/>
            <a:ext cx="548640" cy="548640"/>
          </a:xfrm>
          <a:prstGeom prst="ellipse">
            <a:avLst/>
          </a:prstGeom>
          <a:solidFill>
            <a:srgbClr val="1760A7"/>
          </a:solidFill>
          <a:ln>
            <a:solidFill>
              <a:srgbClr val="176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41414"/>
                </a:solidFill>
                <a:latin typeface="Calibri"/>
              </a:defRPr>
            </a:pPr>
            <a:r>
              <a:t>Sprint 2</a:t>
            </a:r>
          </a:p>
          <a:p>
            <a:pPr>
              <a:defRPr sz="1500">
                <a:solidFill>
                  <a:srgbClr val="505050"/>
                </a:solidFill>
                <a:latin typeface="Calibri"/>
              </a:defRPr>
            </a:pPr>
            <a:r>
              <a:t>Stitch sustainability dashboard</a:t>
            </a:r>
          </a:p>
        </p:txBody>
      </p:sp>
      <p:sp>
        <p:nvSpPr>
          <p:cNvPr id="8" name="Oval 7"/>
          <p:cNvSpPr/>
          <p:nvPr/>
        </p:nvSpPr>
        <p:spPr>
          <a:xfrm>
            <a:off x="7132320" y="2834640"/>
            <a:ext cx="548640" cy="548640"/>
          </a:xfrm>
          <a:prstGeom prst="ellipse">
            <a:avLst/>
          </a:prstGeom>
          <a:solidFill>
            <a:srgbClr val="1760A7"/>
          </a:solidFill>
          <a:ln>
            <a:solidFill>
              <a:srgbClr val="176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41414"/>
                </a:solidFill>
                <a:latin typeface="Calibri"/>
              </a:defRPr>
            </a:pPr>
            <a:r>
              <a:t>Sprint 3</a:t>
            </a:r>
          </a:p>
          <a:p>
            <a:pPr>
              <a:defRPr sz="1500">
                <a:solidFill>
                  <a:srgbClr val="505050"/>
                </a:solidFill>
                <a:latin typeface="Calibri"/>
              </a:defRPr>
            </a:pPr>
            <a:r>
              <a:t>AI ops runbook &amp; rollout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141414"/>
                </a:solidFill>
                <a:latin typeface="Calibri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9875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  <a:latin typeface="Calibri"/>
              </a:defRPr>
            </a:pPr>
            <a:r>
              <a:t>→ Approve budget for 25 new sensor clusters</a:t>
            </a:r>
          </a:p>
          <a:p>
            <a:pPr>
              <a:defRPr sz="2400" b="1">
                <a:solidFill>
                  <a:srgbClr val="505050"/>
                </a:solidFill>
                <a:latin typeface="Calibri"/>
              </a:defRPr>
            </a:pPr>
            <a:r>
              <a:t>→ Nominate 1 champion per faculty</a:t>
            </a:r>
          </a:p>
          <a:p>
            <a:pPr>
              <a:defRPr sz="2400" b="1">
                <a:solidFill>
                  <a:srgbClr val="505050"/>
                </a:solidFill>
                <a:latin typeface="Calibri"/>
              </a:defRPr>
            </a:pPr>
            <a:r>
              <a:t>→ Lock cross-function war room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  <a:latin typeface="Calibri"/>
              </a:defRPr>
            </a:pPr>
            <a:r>
              <a:t>Contact: aiot@campus.example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